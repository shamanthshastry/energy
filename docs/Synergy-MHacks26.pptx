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33399855-C86B-558C-975E-0891FF6257BA}">
          <p14:sldIdLst>
            <p14:sldId id="256"/>
            <p14:sldId id="257"/>
          </p14:sldIdLst>
        </p14:section>
        <p14:section name="01 Problem Statement" id="{02C5FDE8-87E4-C776-00C9-963949D07FF7}">
          <p14:sldIdLst>
            <p14:sldId id="258"/>
            <p14:sldId id="259"/>
            <p14:sldId id="260"/>
            <p14:sldId id="261"/>
          </p14:sldIdLst>
        </p14:section>
        <p14:section name="02 Tools" id="{3E223BEB-7305-DA38-9F9C-0B2A74CAC3FA}">
          <p14:sldIdLst>
            <p14:sldId id="262"/>
            <p14:sldId id="263"/>
            <p14:sldId id="264"/>
          </p14:sldIdLst>
        </p14:section>
        <p14:section name="03 Demo" id="{A20A08A7-4F20-9CC0-B9A2-552B313D3BD8}">
          <p14:sldIdLst>
            <p14:sldId id="265"/>
            <p14:sldId id="266"/>
          </p14:sldIdLst>
        </p14:section>
        <p14:section name="04 Value Proposition" id="{C9615535-D35B-48FB-D94C-813387F232BF}">
          <p14:sldIdLst>
            <p14:sldId id="267"/>
            <p14:sldId id="268"/>
            <p14:sldId id="269"/>
          </p14:sldIdLst>
        </p14:section>
        <p14:section name="Close" id="{04BA98CD-94AA-BE98-A87A-E6019879A3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87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6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72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Synergy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Synergy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Ease the grid. Shrink your bill.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Shamanth Shastry · MHacks 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241280" y="914400"/>
            <a:ext cx="1188720" cy="2011680"/>
          </a:xfrm>
          <a:custGeom>
            <a:avLst/>
            <a:gdLst/>
            <a:ahLst/>
            <a:cxnLst/>
            <a:rect l="l" t="t" r="r" b="b"/>
            <a:pathLst>
              <a:path w="1188720" h="2011680">
                <a:moveTo>
                  <a:pt x="713232" y="0"/>
                </a:moveTo>
                <a:lnTo>
                  <a:pt x="91440" y="1161288"/>
                </a:lnTo>
                <a:lnTo>
                  <a:pt x="521208" y="1161288"/>
                </a:lnTo>
                <a:lnTo>
                  <a:pt x="393192" y="2011680"/>
                </a:lnTo>
                <a:lnTo>
                  <a:pt x="1097280" y="804672"/>
                </a:lnTo>
                <a:lnTo>
                  <a:pt x="667512" y="804672"/>
                </a:lnTo>
                <a:close/>
              </a:path>
            </a:pathLst>
          </a:cu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Tools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4114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114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38404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4114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114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Value Proposition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Problem Statement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Electric grids, everyday residents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resident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Bill says $125. Not which appliance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way to see what costs what, hour by hour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Advice is generic and never checked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plug on every outlet is the only fix today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The grid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Overloaded at weekday evenings (3–7 pm peak)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Frequency and voltage drops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Equipment damage, outages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Peaker plants: the dirtiest hours on the grid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Stakeholders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Households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Want a lower bill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Won't install ten sensors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 advice they can trust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640080" cy="640080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091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Utilities (DTE)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Time-of-day plans need buy-in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Peak demand is the cost driver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Want customers to shift load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1828800"/>
            <a:ext cx="640080" cy="640080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58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Grid operators (MISO)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Evening peak strains capacity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Shifted load avoids peakers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Lower emissions per kWh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Solution: one sensor, every appliance, advice you can verify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DDF2E6"/>
          </a:solidFill>
          <a:ln w="12700">
            <a:solidFill>
              <a:srgbClr val="D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One sensor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Clamp on the breaker panel. Power + harmonics, every 2 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4904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Split by a CNN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Per-appliance usage and cost, labelled as estimated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DDF2E6"/>
          </a:solidFill>
          <a:ln w="12700">
            <a:solidFill>
              <a:srgbClr val="D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8368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Priced advice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3 suggestions a week, in dollars, under the real DTE tariff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1832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Verified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week later: did it save? Ranking learns from it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Tools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Front end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React + TypeScript + Vite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Sign-in, typed intro, 3 tabs: Home · Actions · Savings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Back end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Python 3.11 + FastAPI (all pricing, all formatting)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PyTorch seq2point CNN (NILM splitter)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LightGBM 7-day forecaster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SpacetimeDB</a:t>
            </a:r>
            <a:r>
              <a:rPr lang="en-US" sz="1700" dirty="0">
                <a:solidFill>
                  <a:schemeClr val="tx1"/>
                </a:solidFill>
              </a:rPr>
              <a:t> on Maincloud (append-only, reducers)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Gemini 2.5 Flash </a:t>
            </a:r>
            <a:r>
              <a:rPr lang="en-US" sz="1700" dirty="0">
                <a:solidFill>
                  <a:schemeClr val="tx1"/>
                </a:solidFill>
              </a:rPr>
              <a:t>narrator (JSON schema)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Open-Meteo weather · DTE tariff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2 s readings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92808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92808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validate, batch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145536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Store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45536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SpacetimeDB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8264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DDF2E6"/>
          </a:solidFill>
          <a:ln w="12700">
            <a:solidFill>
              <a:srgbClr val="D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98264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CNN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per-appliance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0992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650992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Forecast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50992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7 days, weather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903720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Price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6 templates, DTE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56448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156448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Narrate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56448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Gemini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09176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409176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Tap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09176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device + undo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61904" y="2194560"/>
            <a:ext cx="1143000" cy="1371600"/>
          </a:xfrm>
          <a:prstGeom prst="roundRect">
            <a:avLst>
              <a:gd name="adj" fmla="val 9600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0661904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661904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a week later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32720" y="3566160"/>
            <a:ext cx="0" cy="914400"/>
          </a:xfrm>
          <a:prstGeom prst="line">
            <a:avLst/>
          </a:prstGeom>
          <a:noFill/>
          <a:ln w="19050">
            <a:solidFill>
              <a:srgbClr val="5C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4480560"/>
            <a:ext cx="2514600" cy="0"/>
          </a:xfrm>
          <a:prstGeom prst="line">
            <a:avLst/>
          </a:prstGeom>
          <a:noFill/>
          <a:ln w="19050">
            <a:solidFill>
              <a:srgbClr val="5C6B6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3"/>
                </a:solidFill>
              </a:rPr>
              <a:t>Success score re-ranks next week's suggestions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model ever emits a dollar: price = kWh × that hour's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Devices change only on a tap, with 24 h undo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Gemini gets structured records; every number checked verbatim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Demo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601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774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This month's bill, day by 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Where the power goes (CNN estimate)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Tap a day for its rundown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DDF2E6"/>
          </a:solidFill>
          <a:ln w="12700">
            <a:solidFill>
              <a:srgbClr val="D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70916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Actions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3774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3 priced suggestions, plain English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Take action on precool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Schedule installed on the thermostat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45820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week later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3774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Advance the demo 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Savings tab: verified $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Ranking learns what worked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Value Proposition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Value proposition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sensor for the whole house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not one per outlet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490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priced suggestions a week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under your real tariff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$16.10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verified in the demo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measured, not promised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41832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0.99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laptop F1, held-out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CNN with harmonics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Residents: see what each appliance costs, cut it, and confirm the saving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Grid: load moves out of the 3–7 pm peak, fewer peaker hours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Greener homes, one house at a time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Technical recap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CNN (NILM)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seq2point: 299-sample window → centre estimate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35 inputs: power, current, PF, 32 harmonics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Shared 5-layer encoder; watts + on/off head × 8 appliances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Split by recording session, never by sample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Laptop F1 0.99 with harmonics vs 0.64 without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Beats the classic CO baseline on 4 appliances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Guardrails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ML component emits a dollar or CO₂ figure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Gemini: structured in, JSON out, numbers verified verbatim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Device changes only on a tap; schedules expire with the week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Raw readings append-only; ledger never deleted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Verifier uses the forecast that priced the 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Inference in numpy: no PyTorch beside LightGBM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Ease the grid. Shrink your bill.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Greener homes, one house at a time.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Synergy · Shamanth Shastry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">
  <a:themeElements>
    <a:clrScheme name="Synergy">
      <a:dk1>
        <a:srgbClr val="17201B"/>
      </a:dk1>
      <a:lt1>
        <a:srgbClr val="FFFFFF"/>
      </a:lt1>
      <a:dk2>
        <a:srgbClr val="1F6B45"/>
      </a:dk2>
      <a:lt2>
        <a:srgbClr val="F7F8F5"/>
      </a:lt2>
      <a:accent1>
        <a:srgbClr val="2E9E63"/>
      </a:accent1>
      <a:accent2>
        <a:srgbClr val="E3B341"/>
      </a:accent2>
      <a:accent3>
        <a:srgbClr val="5C6B62"/>
      </a:accent3>
      <a:accent4>
        <a:srgbClr val="DDF2E6"/>
      </a:accent4>
      <a:accent5>
        <a:srgbClr val="B8772A"/>
      </a:accent5>
      <a:accent6>
        <a:srgbClr val="E1E6DF"/>
      </a:accent6>
      <a:hlink>
        <a:srgbClr val="1F6B45"/>
      </a:hlink>
      <a:folHlink>
        <a:srgbClr val="5C6B62"/>
      </a:folHlink>
    </a:clrScheme>
    <a:fontScheme name="Synerg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657</Words>
  <Application>Microsoft Macintosh PowerPoint</Application>
  <PresentationFormat>Widescreen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Synergy</vt:lpstr>
      <vt:lpstr>Synergy</vt:lpstr>
      <vt:lpstr>Agenda</vt:lpstr>
      <vt:lpstr>Problem Statement</vt:lpstr>
      <vt:lpstr>Electric grids, everyday residents</vt:lpstr>
      <vt:lpstr>Stakeholders</vt:lpstr>
      <vt:lpstr>Solution: one sensor, every appliance, advice you can verify</vt:lpstr>
      <vt:lpstr>Tools</vt:lpstr>
      <vt:lpstr>Tools</vt:lpstr>
      <vt:lpstr>Flow</vt:lpstr>
      <vt:lpstr>Demo</vt:lpstr>
      <vt:lpstr>Demo</vt:lpstr>
      <vt:lpstr>Value Proposition</vt:lpstr>
      <vt:lpstr>Value proposition</vt:lpstr>
      <vt:lpstr>Technical recap</vt:lpstr>
      <vt:lpstr>Ease the grid. Shrink your bill.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Synergy</dc:title>
  <dc:subject>PptxGenJS Presentation</dc:subject>
  <dc:creator>Shamanth Shastry</dc:creator>
  <cp:lastModifiedBy>Shastry, Shamanth</cp:lastModifiedBy>
  <cp:revision>2</cp:revision>
  <dcterms:created xsi:type="dcterms:W3CDTF">2026-10-04T16:48:10Z</dcterms:created>
  <dcterms:modified xsi:type="dcterms:W3CDTF">2026-10-04T17:49:28Z</dcterms:modified>
</cp:coreProperties>
</file>